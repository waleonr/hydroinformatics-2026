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4" r:id="rId6"/>
    <p:sldId id="434" r:id="rId7"/>
    <p:sldId id="435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68B35-589D-41B3-974E-08AE75E6E87B}" type="datetimeFigureOut">
              <a:rPr lang="es-CO" smtClean="0"/>
              <a:t>25/03/2026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FA804-CADF-432C-9A2A-6BE42C80A0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5104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68B35-589D-41B3-974E-08AE75E6E87B}" type="datetimeFigureOut">
              <a:rPr lang="es-CO" smtClean="0"/>
              <a:t>25/03/2026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FA804-CADF-432C-9A2A-6BE42C80A0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601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68B35-589D-41B3-974E-08AE75E6E87B}" type="datetimeFigureOut">
              <a:rPr lang="es-CO" smtClean="0"/>
              <a:t>25/03/2026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FA804-CADF-432C-9A2A-6BE42C80A0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9122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68B35-589D-41B3-974E-08AE75E6E87B}" type="datetimeFigureOut">
              <a:rPr lang="es-CO" smtClean="0"/>
              <a:t>25/03/2026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FA804-CADF-432C-9A2A-6BE42C80A0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893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68B35-589D-41B3-974E-08AE75E6E87B}" type="datetimeFigureOut">
              <a:rPr lang="es-CO" smtClean="0"/>
              <a:t>25/03/2026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FA804-CADF-432C-9A2A-6BE42C80A0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5378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68B35-589D-41B3-974E-08AE75E6E87B}" type="datetimeFigureOut">
              <a:rPr lang="es-CO" smtClean="0"/>
              <a:t>25/03/2026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FA804-CADF-432C-9A2A-6BE42C80A0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794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68B35-589D-41B3-974E-08AE75E6E87B}" type="datetimeFigureOut">
              <a:rPr lang="es-CO" smtClean="0"/>
              <a:t>25/03/2026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FA804-CADF-432C-9A2A-6BE42C80A0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77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68B35-589D-41B3-974E-08AE75E6E87B}" type="datetimeFigureOut">
              <a:rPr lang="es-CO" smtClean="0"/>
              <a:t>25/03/2026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FA804-CADF-432C-9A2A-6BE42C80A0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398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68B35-589D-41B3-974E-08AE75E6E87B}" type="datetimeFigureOut">
              <a:rPr lang="es-CO" smtClean="0"/>
              <a:t>25/03/2026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FA804-CADF-432C-9A2A-6BE42C80A0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163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68B35-589D-41B3-974E-08AE75E6E87B}" type="datetimeFigureOut">
              <a:rPr lang="es-CO" smtClean="0"/>
              <a:t>25/03/2026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FA804-CADF-432C-9A2A-6BE42C80A0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821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68B35-589D-41B3-974E-08AE75E6E87B}" type="datetimeFigureOut">
              <a:rPr lang="es-CO" smtClean="0"/>
              <a:t>25/03/2026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FA804-CADF-432C-9A2A-6BE42C80A0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755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68B35-589D-41B3-974E-08AE75E6E87B}" type="datetimeFigureOut">
              <a:rPr lang="es-CO" smtClean="0"/>
              <a:t>25/03/2026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FA804-CADF-432C-9A2A-6BE42C80A0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238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s.wikipedia.org/wiki/Jacob#cite_note-Wilkinson_1-1" TargetMode="External"/><Relationship Id="rId3" Type="http://schemas.openxmlformats.org/officeDocument/2006/relationships/hyperlink" Target="https://es.wikipedia.org/wiki/Primog%C3%A9nito" TargetMode="External"/><Relationship Id="rId7" Type="http://schemas.openxmlformats.org/officeDocument/2006/relationships/hyperlink" Target="https://es.wikipedia.org/wiki/Rebeca_(personaje_b%C3%ADblico)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s.wikipedia.org/wiki/Isaac" TargetMode="External"/><Relationship Id="rId5" Type="http://schemas.openxmlformats.org/officeDocument/2006/relationships/hyperlink" Target="https://es.wikipedia.org/wiki/Lentejas" TargetMode="External"/><Relationship Id="rId10" Type="http://schemas.openxmlformats.org/officeDocument/2006/relationships/hyperlink" Target="https://es.wikipedia.org/wiki/Abraham" TargetMode="External"/><Relationship Id="rId4" Type="http://schemas.openxmlformats.org/officeDocument/2006/relationships/hyperlink" Target="https://es.wikipedia.org/wiki/Esa%C3%BA" TargetMode="External"/><Relationship Id="rId9" Type="http://schemas.openxmlformats.org/officeDocument/2006/relationships/hyperlink" Target="https://es.wikipedia.org/wiki/Jacob#cite_note-2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34" y="979169"/>
            <a:ext cx="8167114" cy="4594002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65229" y="248746"/>
            <a:ext cx="8024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>
                <a:solidFill>
                  <a:srgbClr val="FF0000"/>
                </a:solidFill>
              </a:rPr>
              <a:t>Primera parte del ejercicio: Durante la Semana Santa ver la película (o similar): “José y sus hemanos”</a:t>
            </a:r>
            <a:endParaRPr lang="es-CO" b="1" dirty="0">
              <a:solidFill>
                <a:srgbClr val="FF0000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EE43745-0581-425F-865F-8F86D8B90529}"/>
              </a:ext>
            </a:extLst>
          </p:cNvPr>
          <p:cNvSpPr/>
          <p:nvPr/>
        </p:nvSpPr>
        <p:spPr>
          <a:xfrm>
            <a:off x="8573050" y="1958170"/>
            <a:ext cx="18492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CO" dirty="0">
                <a:solidFill>
                  <a:srgbClr val="111111"/>
                </a:solidFill>
                <a:latin typeface="Roboto"/>
              </a:rPr>
              <a:t>Rubén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>
                <a:solidFill>
                  <a:srgbClr val="111111"/>
                </a:solidFill>
                <a:latin typeface="Roboto"/>
              </a:rPr>
              <a:t>Simeón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>
                <a:solidFill>
                  <a:srgbClr val="111111"/>
                </a:solidFill>
                <a:latin typeface="Roboto"/>
              </a:rPr>
              <a:t>Leví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>
                <a:solidFill>
                  <a:srgbClr val="111111"/>
                </a:solidFill>
                <a:latin typeface="Roboto"/>
              </a:rPr>
              <a:t>Judá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>
                <a:solidFill>
                  <a:srgbClr val="111111"/>
                </a:solidFill>
                <a:latin typeface="Roboto"/>
              </a:rPr>
              <a:t>Dan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>
                <a:solidFill>
                  <a:srgbClr val="111111"/>
                </a:solidFill>
                <a:latin typeface="Roboto"/>
              </a:rPr>
              <a:t>Neftalí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>
                <a:solidFill>
                  <a:srgbClr val="111111"/>
                </a:solidFill>
                <a:latin typeface="Roboto"/>
              </a:rPr>
              <a:t>Gad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>
                <a:solidFill>
                  <a:srgbClr val="111111"/>
                </a:solidFill>
                <a:latin typeface="Roboto"/>
              </a:rPr>
              <a:t>Aser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 err="1">
                <a:solidFill>
                  <a:srgbClr val="111111"/>
                </a:solidFill>
                <a:latin typeface="Roboto"/>
              </a:rPr>
              <a:t>Isacar</a:t>
            </a:r>
            <a:endParaRPr lang="es-CO" dirty="0">
              <a:solidFill>
                <a:srgbClr val="111111"/>
              </a:solidFill>
              <a:latin typeface="Roboto"/>
            </a:endParaRPr>
          </a:p>
          <a:p>
            <a:pPr marL="342900" indent="-342900">
              <a:buFont typeface="+mj-lt"/>
              <a:buAutoNum type="arabicPeriod"/>
            </a:pPr>
            <a:r>
              <a:rPr lang="es-CO" dirty="0">
                <a:solidFill>
                  <a:srgbClr val="111111"/>
                </a:solidFill>
                <a:latin typeface="Roboto"/>
              </a:rPr>
              <a:t>Zabulón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>
                <a:solidFill>
                  <a:srgbClr val="FF0000"/>
                </a:solidFill>
                <a:latin typeface="Roboto"/>
              </a:rPr>
              <a:t>José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>
                <a:solidFill>
                  <a:srgbClr val="FF0000"/>
                </a:solidFill>
                <a:latin typeface="Roboto"/>
              </a:rPr>
              <a:t>Benjamín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BA770D3-0C34-4854-B20A-1AC7179ADF9A}"/>
              </a:ext>
            </a:extLst>
          </p:cNvPr>
          <p:cNvSpPr/>
          <p:nvPr/>
        </p:nvSpPr>
        <p:spPr>
          <a:xfrm>
            <a:off x="7574848" y="2631233"/>
            <a:ext cx="914400" cy="2146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JACOB</a:t>
            </a:r>
            <a:endParaRPr lang="es-C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508E4FC-0BB2-4729-B1E8-C18F5FD8D1BC}"/>
              </a:ext>
            </a:extLst>
          </p:cNvPr>
          <p:cNvSpPr/>
          <p:nvPr/>
        </p:nvSpPr>
        <p:spPr>
          <a:xfrm>
            <a:off x="0" y="5742453"/>
            <a:ext cx="109528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i="1" dirty="0">
                <a:solidFill>
                  <a:srgbClr val="202122"/>
                </a:solidFill>
                <a:latin typeface="Arial" panose="020B0604020202020204" pitchFamily="34" charset="0"/>
              </a:rPr>
              <a:t>Jacobo compró la </a:t>
            </a:r>
            <a:r>
              <a:rPr lang="es-ES" i="1" dirty="0">
                <a:solidFill>
                  <a:srgbClr val="3366CC"/>
                </a:solidFill>
                <a:latin typeface="Arial" panose="020B0604020202020204" pitchFamily="34" charset="0"/>
                <a:hlinkClick r:id="rId3" tooltip="Primogénito"/>
              </a:rPr>
              <a:t>primogenitura</a:t>
            </a:r>
            <a:r>
              <a:rPr lang="es-ES" i="1" dirty="0">
                <a:solidFill>
                  <a:srgbClr val="202122"/>
                </a:solidFill>
                <a:latin typeface="Arial" panose="020B0604020202020204" pitchFamily="34" charset="0"/>
              </a:rPr>
              <a:t> de su hermano </a:t>
            </a:r>
            <a:r>
              <a:rPr lang="es-ES" i="1" dirty="0">
                <a:solidFill>
                  <a:srgbClr val="3366CC"/>
                </a:solidFill>
                <a:latin typeface="Arial" panose="020B0604020202020204" pitchFamily="34" charset="0"/>
                <a:hlinkClick r:id="rId4" tooltip="Esaú"/>
              </a:rPr>
              <a:t>Esaú</a:t>
            </a:r>
            <a:r>
              <a:rPr lang="es-ES" i="1" dirty="0">
                <a:solidFill>
                  <a:srgbClr val="202122"/>
                </a:solidFill>
                <a:latin typeface="Arial" panose="020B0604020202020204" pitchFamily="34" charset="0"/>
              </a:rPr>
              <a:t> "por un plato de </a:t>
            </a:r>
            <a:r>
              <a:rPr lang="es-ES" i="1" u="sng" dirty="0">
                <a:solidFill>
                  <a:srgbClr val="3366CC"/>
                </a:solidFill>
                <a:latin typeface="Arial" panose="020B0604020202020204" pitchFamily="34" charset="0"/>
                <a:hlinkClick r:id="rId5"/>
              </a:rPr>
              <a:t>lentejas</a:t>
            </a:r>
            <a:r>
              <a:rPr lang="es-ES" i="1" dirty="0">
                <a:solidFill>
                  <a:srgbClr val="202122"/>
                </a:solidFill>
                <a:latin typeface="Arial" panose="020B0604020202020204" pitchFamily="34" charset="0"/>
              </a:rPr>
              <a:t>“. J</a:t>
            </a:r>
            <a:r>
              <a:rPr lang="es-ES" i="1" dirty="0"/>
              <a:t>acobo habría </a:t>
            </a:r>
            <a:r>
              <a:rPr lang="es-ES" i="1"/>
              <a:t>nacido unos </a:t>
            </a:r>
            <a:r>
              <a:rPr lang="es-ES" i="1" dirty="0"/>
              <a:t>veinte años después del matrimonio entre </a:t>
            </a:r>
            <a:r>
              <a:rPr lang="es-ES" i="1" u="sng" dirty="0">
                <a:hlinkClick r:id="rId6"/>
              </a:rPr>
              <a:t>Isaac</a:t>
            </a:r>
            <a:r>
              <a:rPr lang="es-ES" i="1" dirty="0"/>
              <a:t> y </a:t>
            </a:r>
            <a:r>
              <a:rPr lang="es-ES" i="1" dirty="0">
                <a:hlinkClick r:id="rId7" tooltip="Rebeca (personaje bíblico)"/>
              </a:rPr>
              <a:t>Rebeca</a:t>
            </a:r>
            <a:r>
              <a:rPr lang="es-ES" i="1" dirty="0"/>
              <a:t>,</a:t>
            </a:r>
            <a:r>
              <a:rPr lang="es-ES" i="1" baseline="30000" dirty="0">
                <a:hlinkClick r:id="rId8"/>
              </a:rPr>
              <a:t>1</a:t>
            </a:r>
            <a:r>
              <a:rPr lang="es-ES" i="1" dirty="0"/>
              <a:t>​ cuando para ese tiempo su padre tenía sesenta años de edad,</a:t>
            </a:r>
            <a:r>
              <a:rPr lang="es-ES" i="1" baseline="30000" dirty="0">
                <a:hlinkClick r:id="rId9"/>
              </a:rPr>
              <a:t>2</a:t>
            </a:r>
            <a:r>
              <a:rPr lang="es-ES" i="1" dirty="0"/>
              <a:t>​ y su abuelo </a:t>
            </a:r>
            <a:r>
              <a:rPr lang="es-ES" i="1" dirty="0">
                <a:hlinkClick r:id="rId10" tooltip="Abraham"/>
              </a:rPr>
              <a:t>Abraham</a:t>
            </a:r>
            <a:r>
              <a:rPr lang="es-ES" i="1" dirty="0"/>
              <a:t> (este ultimo tuvo dos hijos: Ismael </a:t>
            </a:r>
            <a:r>
              <a:rPr lang="es-ES" i="1"/>
              <a:t>y Isaac)</a:t>
            </a:r>
            <a:endParaRPr lang="es-CO" i="1" dirty="0"/>
          </a:p>
        </p:txBody>
      </p:sp>
    </p:spTree>
    <p:extLst>
      <p:ext uri="{BB962C8B-B14F-4D97-AF65-F5344CB8AC3E}">
        <p14:creationId xmlns:p14="http://schemas.microsoft.com/office/powerpoint/2010/main" val="257641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107746" y="64010"/>
            <a:ext cx="7907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Segunda parte del ejercicio: Leer el artículo científico</a:t>
            </a:r>
            <a:endParaRPr lang="es-CO" b="1" dirty="0">
              <a:solidFill>
                <a:srgbClr val="FF0000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210" y="863925"/>
            <a:ext cx="7811861" cy="291836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342" y="3782288"/>
            <a:ext cx="6569429" cy="245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Tercera parte del ejercicio: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Definir el fenómeno de </a:t>
            </a:r>
            <a:r>
              <a:rPr lang="es-ES" dirty="0" err="1"/>
              <a:t>Hurst</a:t>
            </a:r>
            <a:r>
              <a:rPr lang="es-ES" dirty="0"/>
              <a:t> y el exponente de </a:t>
            </a:r>
            <a:r>
              <a:rPr lang="es-ES" dirty="0" err="1"/>
              <a:t>Hurst</a:t>
            </a:r>
            <a:r>
              <a:rPr lang="es-ES" dirty="0"/>
              <a:t> H</a:t>
            </a:r>
          </a:p>
          <a:p>
            <a:r>
              <a:rPr lang="es-ES" dirty="0"/>
              <a:t>Definir “efecto José” en hidrología operacional</a:t>
            </a:r>
          </a:p>
          <a:p>
            <a:r>
              <a:rPr lang="es-ES" dirty="0"/>
              <a:t>Definir “efecto Noé” en hidrología operacional</a:t>
            </a:r>
          </a:p>
          <a:p>
            <a:r>
              <a:rPr lang="es-ES" dirty="0"/>
              <a:t>Desde la película vista “Jose y sus hermanos” recrear pasajes con sus respectivas escenas y diálogos que expliquen el efecto José y el efecto Noé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18657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Cuarto problema: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Desarrollar un algoritmo para estimar la función de autocorrelación no lineal de una series de tiempo, entendida esta como la información mutua. Implemente y muestre sus resultados para una serie de tiempo de caudales diarios.</a:t>
            </a:r>
          </a:p>
          <a:p>
            <a:r>
              <a:rPr lang="es-ES" dirty="0"/>
              <a:t>Considere la serie de tiempo anterior, pero agregada a resolución mensual. Encuentre y grafique el </a:t>
            </a:r>
            <a:r>
              <a:rPr lang="es-ES" dirty="0" err="1"/>
              <a:t>correlograma</a:t>
            </a:r>
            <a:r>
              <a:rPr lang="es-ES" dirty="0"/>
              <a:t> cruzado entre dicha serie y la del ONI. Rezague la primera (de caudal) para conocer la “memoria no lineal”</a:t>
            </a:r>
          </a:p>
          <a:p>
            <a:r>
              <a:rPr lang="es-ES" dirty="0"/>
              <a:t>Considere tres series de tiempo a resolución mensual para una misma cuenca hidrográfica. Una de estas que sea de caudal y las otras pueden ser de tipo climatológico (precipitación, temperatura, humedad relativa, </a:t>
            </a:r>
            <a:r>
              <a:rPr lang="es-ES" dirty="0" err="1"/>
              <a:t>etc</a:t>
            </a:r>
            <a:r>
              <a:rPr lang="es-ES" dirty="0"/>
              <a:t>). Estudie la cantidad de información que esta ultimas tienen sobre la serie del caudal. </a:t>
            </a:r>
            <a:r>
              <a:rPr lang="es-ES" dirty="0" err="1"/>
              <a:t>Hint</a:t>
            </a:r>
            <a:r>
              <a:rPr lang="es-ES" dirty="0"/>
              <a:t>: </a:t>
            </a:r>
            <a:r>
              <a:rPr lang="es-ES" dirty="0" err="1"/>
              <a:t>Correlogramas</a:t>
            </a:r>
            <a:r>
              <a:rPr lang="es-ES" dirty="0"/>
              <a:t> cruzados de Información mutua.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70952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9FF4E-6C64-4A1C-BBC9-3E8EF0708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EE7263-6061-493D-8A81-2904D2586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F1F63F-C152-4D67-BABD-F4905BFF0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1" y="143038"/>
            <a:ext cx="11354531" cy="440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238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altLang="es-CO" b="1" dirty="0" err="1">
                <a:solidFill>
                  <a:srgbClr val="FF3300"/>
                </a:solidFill>
              </a:rPr>
              <a:t>Estructuras</a:t>
            </a:r>
            <a:r>
              <a:rPr lang="en-US" altLang="es-CO" b="1" dirty="0">
                <a:solidFill>
                  <a:srgbClr val="FF3300"/>
                </a:solidFill>
              </a:rPr>
              <a:t> de </a:t>
            </a:r>
            <a:r>
              <a:rPr lang="en-US" altLang="es-CO" b="1" dirty="0" err="1">
                <a:solidFill>
                  <a:srgbClr val="FF3300"/>
                </a:solidFill>
              </a:rPr>
              <a:t>correlación</a:t>
            </a:r>
            <a:endParaRPr lang="en-US" altLang="es-CO" b="1" dirty="0">
              <a:solidFill>
                <a:srgbClr val="FF3300"/>
              </a:solidFill>
            </a:endParaRPr>
          </a:p>
        </p:txBody>
      </p:sp>
      <p:pic>
        <p:nvPicPr>
          <p:cNvPr id="10240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1752601"/>
            <a:ext cx="2792413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05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905000"/>
            <a:ext cx="3862388" cy="258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06" name="Text Box 6"/>
          <p:cNvSpPr txBox="1">
            <a:spLocks noChangeArrowheads="1"/>
          </p:cNvSpPr>
          <p:nvPr/>
        </p:nvSpPr>
        <p:spPr bwMode="auto">
          <a:xfrm>
            <a:off x="6096000" y="5099050"/>
            <a:ext cx="611699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s-CO" sz="2800" b="1" dirty="0">
                <a:solidFill>
                  <a:schemeClr val="accent2"/>
                </a:solidFill>
              </a:rPr>
              <a:t>r=</a:t>
            </a:r>
            <a:r>
              <a:rPr lang="en-US" altLang="es-CO" sz="2800" b="1" dirty="0" err="1">
                <a:solidFill>
                  <a:schemeClr val="accent2"/>
                </a:solidFill>
              </a:rPr>
              <a:t>Cov</a:t>
            </a:r>
            <a:r>
              <a:rPr lang="en-US" altLang="es-CO" sz="2800" b="1" dirty="0">
                <a:solidFill>
                  <a:schemeClr val="accent2"/>
                </a:solidFill>
              </a:rPr>
              <a:t>(</a:t>
            </a:r>
            <a:r>
              <a:rPr lang="en-US" altLang="es-CO" sz="2800" b="1" dirty="0" err="1">
                <a:solidFill>
                  <a:schemeClr val="accent2"/>
                </a:solidFill>
              </a:rPr>
              <a:t>x,y</a:t>
            </a:r>
            <a:r>
              <a:rPr lang="en-US" altLang="es-CO" sz="2800" b="1" dirty="0">
                <a:solidFill>
                  <a:schemeClr val="accent2"/>
                </a:solidFill>
              </a:rPr>
              <a:t>)/(</a:t>
            </a:r>
            <a:r>
              <a:rPr lang="en-US" altLang="es-CO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</a:t>
            </a:r>
            <a:r>
              <a:rPr lang="en-US" altLang="es-CO" sz="2800" b="1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x</a:t>
            </a:r>
            <a:r>
              <a:rPr lang="en-US" altLang="es-CO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*</a:t>
            </a:r>
            <a:r>
              <a:rPr lang="en-US" altLang="es-CO" sz="2800" b="1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y</a:t>
            </a:r>
            <a:r>
              <a:rPr lang="en-US" altLang="es-CO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): </a:t>
            </a:r>
            <a:r>
              <a:rPr lang="en-US" altLang="es-CO" sz="28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correlación</a:t>
            </a:r>
            <a:r>
              <a:rPr lang="en-US" altLang="es-CO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 lineal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s-CO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I(X,Y): </a:t>
            </a:r>
            <a:r>
              <a:rPr lang="en-US" altLang="es-CO" sz="28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correlación</a:t>
            </a:r>
            <a:r>
              <a:rPr lang="en-US" altLang="es-CO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 no lineal</a:t>
            </a:r>
            <a:endParaRPr lang="es-ES" altLang="es-CO" sz="2800" b="1" dirty="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62272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694" y="1124742"/>
            <a:ext cx="9004300" cy="384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810001"/>
            <a:ext cx="4503738" cy="283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3431" name="Text Box 7"/>
          <p:cNvSpPr txBox="1">
            <a:spLocks noChangeArrowheads="1"/>
          </p:cNvSpPr>
          <p:nvPr/>
        </p:nvSpPr>
        <p:spPr bwMode="auto">
          <a:xfrm>
            <a:off x="5791200" y="5867400"/>
            <a:ext cx="25302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s-CO" b="1">
                <a:solidFill>
                  <a:schemeClr val="accent2"/>
                </a:solidFill>
              </a:rPr>
              <a:t>…memoria del proceso…</a:t>
            </a:r>
            <a:endParaRPr lang="es-ES" altLang="es-CO" b="1">
              <a:solidFill>
                <a:schemeClr val="accent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9790F27-0DD3-4569-92F5-24700FA6A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1868" y="195910"/>
            <a:ext cx="8801613" cy="674132"/>
          </a:xfrm>
        </p:spPr>
        <p:txBody>
          <a:bodyPr>
            <a:normAutofit fontScale="90000"/>
          </a:bodyPr>
          <a:lstStyle/>
          <a:p>
            <a:r>
              <a:rPr lang="en-US" altLang="es-CO" b="1" dirty="0" err="1">
                <a:solidFill>
                  <a:srgbClr val="FF3300"/>
                </a:solidFill>
              </a:rPr>
              <a:t>Función</a:t>
            </a:r>
            <a:r>
              <a:rPr lang="en-US" altLang="es-CO" b="1" dirty="0">
                <a:solidFill>
                  <a:srgbClr val="FF3300"/>
                </a:solidFill>
              </a:rPr>
              <a:t> de </a:t>
            </a:r>
            <a:r>
              <a:rPr lang="en-US" altLang="es-CO" b="1" dirty="0" err="1">
                <a:solidFill>
                  <a:srgbClr val="FF3300"/>
                </a:solidFill>
              </a:rPr>
              <a:t>autocorrelación</a:t>
            </a:r>
            <a:r>
              <a:rPr lang="en-US" altLang="es-CO" b="1" dirty="0">
                <a:solidFill>
                  <a:srgbClr val="FF3300"/>
                </a:solidFill>
              </a:rPr>
              <a:t> para </a:t>
            </a:r>
            <a:r>
              <a:rPr lang="en-US" altLang="es-CO" b="1" dirty="0" err="1">
                <a:solidFill>
                  <a:srgbClr val="FF3300"/>
                </a:solidFill>
              </a:rPr>
              <a:t>rezago</a:t>
            </a:r>
            <a:r>
              <a:rPr lang="en-US" altLang="es-CO" b="1" dirty="0">
                <a:solidFill>
                  <a:srgbClr val="FF3300"/>
                </a:solidFill>
              </a:rPr>
              <a:t> (</a:t>
            </a:r>
            <a:r>
              <a:rPr lang="en-US" altLang="es-CO" b="1" dirty="0">
                <a:solidFill>
                  <a:srgbClr val="FF3300"/>
                </a:solidFill>
                <a:sym typeface="Symbol" panose="05050102010706020507" pitchFamily="18" charset="2"/>
              </a:rPr>
              <a:t></a:t>
            </a:r>
            <a:r>
              <a:rPr lang="en-US" altLang="es-CO" b="1" dirty="0">
                <a:solidFill>
                  <a:srgbClr val="FF33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88792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8BD7F2E97A94748AC23AACCD37F6D1E" ma:contentTypeVersion="3" ma:contentTypeDescription="Crear nuevo documento." ma:contentTypeScope="" ma:versionID="7b853fac8a5be424c1aa77b7c12aee39">
  <xsd:schema xmlns:xsd="http://www.w3.org/2001/XMLSchema" xmlns:xs="http://www.w3.org/2001/XMLSchema" xmlns:p="http://schemas.microsoft.com/office/2006/metadata/properties" xmlns:ns2="3b4876ae-f073-4897-a729-3c87feaaaa20" targetNamespace="http://schemas.microsoft.com/office/2006/metadata/properties" ma:root="true" ma:fieldsID="44150612054c73628d379b3f87659960" ns2:_="">
    <xsd:import namespace="3b4876ae-f073-4897-a729-3c87feaaaa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876ae-f073-4897-a729-3c87feaaaa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1AFEA2-75B7-41C5-9FD4-F0E8AE830E1D}"/>
</file>

<file path=customXml/itemProps2.xml><?xml version="1.0" encoding="utf-8"?>
<ds:datastoreItem xmlns:ds="http://schemas.openxmlformats.org/officeDocument/2006/customXml" ds:itemID="{C9A8B93E-53AE-4EB9-9268-FCB1CE50266D}"/>
</file>

<file path=customXml/itemProps3.xml><?xml version="1.0" encoding="utf-8"?>
<ds:datastoreItem xmlns:ds="http://schemas.openxmlformats.org/officeDocument/2006/customXml" ds:itemID="{997E31D4-E6D6-4609-8361-8492E0E06AF5}"/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349</Words>
  <Application>Microsoft Office PowerPoint</Application>
  <PresentationFormat>Panorámica</PresentationFormat>
  <Paragraphs>30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Roboto</vt:lpstr>
      <vt:lpstr>Tema de Office</vt:lpstr>
      <vt:lpstr>Presentación de PowerPoint</vt:lpstr>
      <vt:lpstr>Presentación de PowerPoint</vt:lpstr>
      <vt:lpstr>Tercera parte del ejercicio:</vt:lpstr>
      <vt:lpstr>Cuarto problema:</vt:lpstr>
      <vt:lpstr>Presentación de PowerPoint</vt:lpstr>
      <vt:lpstr>Estructuras de correlación</vt:lpstr>
      <vt:lpstr>Función de autocorrelación para rezago ()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Nelson Obregon Neira</dc:creator>
  <cp:lastModifiedBy>Nelson Obregon Neira</cp:lastModifiedBy>
  <cp:revision>8</cp:revision>
  <dcterms:created xsi:type="dcterms:W3CDTF">2024-03-20T07:56:59Z</dcterms:created>
  <dcterms:modified xsi:type="dcterms:W3CDTF">2026-03-25T10:38:36Z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0x01010098BD7F2E97A94748AC23AACCD37F6D1E</vt:lpwstr>
  </property>
</Properties>
</file>